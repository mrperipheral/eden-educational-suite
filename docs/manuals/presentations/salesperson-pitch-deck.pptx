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this is a live demo, not just slides. Ask what matters most to them before diving in so the order can flex to their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the live application now. Use the 15/30/45-minute route table in the demo guide depending on time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mirrors the actual application navigation — nothing here is hypothetical. Skip sections the owner isn't interested in; don't force the full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Mention: every module can be switched on or off per school in Settings — a school only sees what it actually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 if asked: multiple-choice / true-false only in this version, no essay grading, no proctoring/lockdown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lives in the Quick-Start Guide and Training Handover Checklist — hand both over once a pilot is agreed.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promise a specific price, contract term, or go-live date on this slide — that's a commercial conversation, not part of the product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27"/>
                </a:solidFill>
                <a:latin typeface="Calibri"/>
              </a:rPr>
              <a:t>LIVE 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School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FDDE8"/>
                </a:solidFill>
                <a:latin typeface="Calibri"/>
              </a:rPr>
              <a:t>One system for admin, academics, attendance, results, fees, and communication</a:t>
            </a:r>
          </a:p>
          <a:p>
            <a:pPr algn="ctr"/>
            <a:r>
              <a:rPr sz="1700" b="0" i="0">
                <a:solidFill>
                  <a:srgbClr val="CFDDE8"/>
                </a:solidFill>
                <a:latin typeface="Calibri"/>
              </a:rPr>
              <a:t>— built for schools, not adapted from something else.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FB5CC"/>
                </a:solidFill>
                <a:latin typeface="Calibri"/>
              </a:rPr>
              <a:t>Presented by: _______________   |   For: 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We'll Cover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Where schools lose time and trust today</a:t>
            </a:r>
            <a:r>
              <a:rPr sz="1700">
                <a:solidFill>
                  <a:srgbClr val="222222"/>
                </a:solidFill>
                <a:latin typeface="Calibri"/>
              </a:rPr>
              <a:t>  the problems we hear most often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A live walkthrough of the platform</a:t>
            </a:r>
            <a:r>
              <a:rPr sz="1700">
                <a:solidFill>
                  <a:srgbClr val="222222"/>
                </a:solidFill>
                <a:latin typeface="Calibri"/>
              </a:rPr>
              <a:t>  students, teachers, attendance, results, fees, portals, CBT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How security and data isolation actually work</a:t>
            </a:r>
            <a:r>
              <a:rPr sz="1700">
                <a:solidFill>
                  <a:srgbClr val="222222"/>
                </a:solidFill>
                <a:latin typeface="Calibri"/>
              </a:rPr>
              <a:t>  not a sales claim — a demonstrable guarantee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What a pilot with your school could look like</a:t>
            </a:r>
            <a:r>
              <a:rPr sz="1700">
                <a:solidFill>
                  <a:srgbClr val="222222"/>
                </a:solidFill>
                <a:latin typeface="Calibri"/>
              </a:rPr>
              <a:t>  realistic first-week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School Management Platform — Sales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WHY WE'RE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Problems Schools Actually Deal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00">
                <a:solidFill>
                  <a:srgbClr val="0B3D66"/>
                </a:solidFill>
                <a:latin typeface="Calibri"/>
              </a:rPr>
              <a:t>•  Records live in spreadsheets, paper files, and someone's memory</a:t>
            </a:r>
            <a:r>
              <a:rPr sz="1600">
                <a:solidFill>
                  <a:srgbClr val="222222"/>
                </a:solidFill>
                <a:latin typeface="Calibri"/>
              </a:rPr>
              <a:t>  no single source of truth, nothing survives a lost laptop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00">
                <a:solidFill>
                  <a:srgbClr val="0B3D66"/>
                </a:solidFill>
                <a:latin typeface="Calibri"/>
              </a:rPr>
              <a:t>•  Report cards are compiled manually every term</a:t>
            </a:r>
            <a:r>
              <a:rPr sz="1600">
                <a:solidFill>
                  <a:srgbClr val="222222"/>
                </a:solidFill>
                <a:latin typeface="Calibri"/>
              </a:rPr>
              <a:t>  slow, stressful, and easy to get wrong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00">
                <a:solidFill>
                  <a:srgbClr val="0B3D66"/>
                </a:solidFill>
                <a:latin typeface="Calibri"/>
              </a:rPr>
              <a:t>•  Fee disputes have no clean paper trail</a:t>
            </a:r>
            <a:r>
              <a:rPr sz="1600">
                <a:solidFill>
                  <a:srgbClr val="222222"/>
                </a:solidFill>
                <a:latin typeface="Calibri"/>
              </a:rPr>
              <a:t>  “I already paid that” becomes a he-said-she-said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00">
                <a:solidFill>
                  <a:srgbClr val="0B3D66"/>
                </a:solidFill>
                <a:latin typeface="Calibri"/>
              </a:rPr>
              <a:t>•  Parents call the office for routine updates</a:t>
            </a:r>
            <a:r>
              <a:rPr sz="1600">
                <a:solidFill>
                  <a:srgbClr val="222222"/>
                </a:solidFill>
                <a:latin typeface="Calibri"/>
              </a:rPr>
              <a:t>  staff time spent answering questions the system could answer itself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00">
                <a:solidFill>
                  <a:srgbClr val="0B3D66"/>
                </a:solidFill>
                <a:latin typeface="Calibri"/>
              </a:rPr>
              <a:t>•  Leadership has no real-time view of the school</a:t>
            </a:r>
            <a:r>
              <a:rPr sz="1600">
                <a:solidFill>
                  <a:srgbClr val="222222"/>
                </a:solidFill>
                <a:latin typeface="Calibri"/>
              </a:rPr>
              <a:t>  decisions made on gut feeling, not current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School Management Platform — Sales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One Platform, Built Around How a School Actually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Every domain in one place</a:t>
            </a:r>
            <a:r>
              <a:rPr sz="1700">
                <a:solidFill>
                  <a:srgbClr val="222222"/>
                </a:solidFill>
                <a:latin typeface="Calibri"/>
              </a:rPr>
              <a:t>  students, staff, academics, attendance, assessments, results, fees, communication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Role-aware from the ground up</a:t>
            </a:r>
            <a:r>
              <a:rPr sz="1700">
                <a:solidFill>
                  <a:srgbClr val="222222"/>
                </a:solidFill>
                <a:latin typeface="Calibri"/>
              </a:rPr>
              <a:t>  a teacher, a parent, and a bursar each see exactly what their role needs — nothing more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Works for one school or many</a:t>
            </a:r>
            <a:r>
              <a:rPr sz="1700">
                <a:solidFill>
                  <a:srgbClr val="222222"/>
                </a:solidFill>
                <a:latin typeface="Calibri"/>
              </a:rPr>
              <a:t>  hard tenant isolation between schools sharing the same platform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Accessible from any device with a browser</a:t>
            </a:r>
            <a:r>
              <a:rPr sz="1700">
                <a:solidFill>
                  <a:srgbClr val="222222"/>
                </a:solidFill>
                <a:latin typeface="Calibri"/>
              </a:rPr>
              <a:t>  no separate app to install for staff, parents, or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School Management Platform — Sales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8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C9A227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Live Platform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FDDE8"/>
                </a:solidFill>
                <a:latin typeface="Calibri"/>
              </a:rPr>
              <a:t>Following the guide at docs/manuals/salesperson-demo-guide.md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Walkthrough, In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61188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7218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66"/>
                </a:solidFill>
                <a:latin typeface="Calibri"/>
              </a:rPr>
              <a:t>01   School setup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417320"/>
            <a:ext cx="361188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7218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66"/>
                </a:solidFill>
                <a:latin typeface="Calibri"/>
              </a:rPr>
              <a:t>02  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17320"/>
            <a:ext cx="361188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47218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66"/>
                </a:solidFill>
                <a:latin typeface="Calibri"/>
              </a:rPr>
              <a:t>03   Students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984248"/>
            <a:ext cx="361188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3911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66"/>
                </a:solidFill>
                <a:latin typeface="Calibri"/>
              </a:rPr>
              <a:t>04   Teachers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984248"/>
            <a:ext cx="361188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3911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66"/>
                </a:solidFill>
                <a:latin typeface="Calibri"/>
              </a:rPr>
              <a:t>05   Academic setup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984248"/>
            <a:ext cx="361188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03911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66"/>
                </a:solidFill>
                <a:latin typeface="Calibri"/>
              </a:rPr>
              <a:t>06   Attendance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551176"/>
            <a:ext cx="361188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606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66"/>
                </a:solidFill>
                <a:latin typeface="Calibri"/>
              </a:rPr>
              <a:t>07   Assessments &amp; assignments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2551176"/>
            <a:ext cx="361188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606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66"/>
                </a:solidFill>
                <a:latin typeface="Calibri"/>
              </a:rPr>
              <a:t>08   Results &amp; report cards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551176"/>
            <a:ext cx="361188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60604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66"/>
                </a:solidFill>
                <a:latin typeface="Calibri"/>
              </a:rPr>
              <a:t>09   Fees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118104"/>
            <a:ext cx="361188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1729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66"/>
                </a:solidFill>
                <a:latin typeface="Calibri"/>
              </a:rPr>
              <a:t>10   Online payment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3118104"/>
            <a:ext cx="361188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1729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66"/>
                </a:solidFill>
                <a:latin typeface="Calibri"/>
              </a:rPr>
              <a:t>11   Parent portal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118104"/>
            <a:ext cx="361188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1729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66"/>
                </a:solidFill>
                <a:latin typeface="Calibri"/>
              </a:rPr>
              <a:t>12   Student portal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685032"/>
            <a:ext cx="361188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739896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66"/>
                </a:solidFill>
                <a:latin typeface="Calibri"/>
              </a:rPr>
              <a:t>13   Learning materials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34840" y="3685032"/>
            <a:ext cx="361188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3739896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66"/>
                </a:solidFill>
                <a:latin typeface="Calibri"/>
              </a:rPr>
              <a:t>14   CBT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685032"/>
            <a:ext cx="361188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3739896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66"/>
                </a:solidFill>
                <a:latin typeface="Calibri"/>
              </a:rPr>
              <a:t>15   Question bank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251960"/>
            <a:ext cx="361188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30682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66"/>
                </a:solidFill>
                <a:latin typeface="Calibri"/>
              </a:rPr>
              <a:t>16   Communication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34840" y="4251960"/>
            <a:ext cx="361188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430682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66"/>
                </a:solidFill>
                <a:latin typeface="Calibri"/>
              </a:rPr>
              <a:t>17   Reports &amp; analytics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4251960"/>
            <a:ext cx="361188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430682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3D66"/>
                </a:solidFill>
                <a:latin typeface="Calibri"/>
              </a:rPr>
              <a:t>18   Audit &amp; security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School Management Platform — Sales Deck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TRUST &amp;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Security Isn't a Slide — It's How the System Is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600">
                <a:solidFill>
                  <a:srgbClr val="0B3D66"/>
                </a:solidFill>
                <a:latin typeface="Calibri"/>
              </a:rPr>
              <a:t>•  Tenant isolation enforced at the database layer</a:t>
            </a:r>
            <a:r>
              <a:rPr sz="1600">
                <a:solidFill>
                  <a:srgbClr val="222222"/>
                </a:solidFill>
                <a:latin typeface="Calibri"/>
              </a:rPr>
              <a:t>  not just hidden in the interface — a school genuinely cannot query another school's data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600">
                <a:solidFill>
                  <a:srgbClr val="0B3D66"/>
                </a:solidFill>
                <a:latin typeface="Calibri"/>
              </a:rPr>
              <a:t>•  Every permission checked server-side</a:t>
            </a:r>
            <a:r>
              <a:rPr sz="1600">
                <a:solidFill>
                  <a:srgbClr val="222222"/>
                </a:solidFill>
                <a:latin typeface="Calibri"/>
              </a:rPr>
              <a:t>  hiding a button is never the same as blocking the action — both are enforced here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600">
                <a:solidFill>
                  <a:srgbClr val="0B3D66"/>
                </a:solidFill>
                <a:latin typeface="Calibri"/>
              </a:rPr>
              <a:t>•  A permanent, tamper-proof audit trail</a:t>
            </a:r>
            <a:r>
              <a:rPr sz="1600">
                <a:solidFill>
                  <a:srgbClr val="222222"/>
                </a:solidFill>
                <a:latin typeface="Calibri"/>
              </a:rPr>
              <a:t>  who did what, and when, for every action that matters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600">
                <a:solidFill>
                  <a:srgbClr val="0B3D66"/>
                </a:solidFill>
                <a:latin typeface="Calibri"/>
              </a:rPr>
              <a:t>•  Hardened against common web risks</a:t>
            </a:r>
            <a:r>
              <a:rPr sz="1600">
                <a:solidFill>
                  <a:srgbClr val="222222"/>
                </a:solidFill>
                <a:latin typeface="Calibri"/>
              </a:rPr>
              <a:t>  export files, security headers, and rate limiting reviewed and fixed as part of a dedicated security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School Management Platform — Sales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CORE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Everything Included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7218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2222"/>
                </a:solidFill>
                <a:latin typeface="Calibri"/>
              </a:rPr>
              <a:t>Students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417320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7218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2222"/>
                </a:solidFill>
                <a:latin typeface="Calibri"/>
              </a:rPr>
              <a:t>Teachers &amp; staff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17320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47218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2222"/>
                </a:solidFill>
                <a:latin typeface="Calibri"/>
              </a:rPr>
              <a:t>Academic setup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984248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0391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2222"/>
                </a:solidFill>
                <a:latin typeface="Calibri"/>
              </a:rPr>
              <a:t>Timetable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984248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391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2222"/>
                </a:solidFill>
                <a:latin typeface="Calibri"/>
              </a:rPr>
              <a:t>Attendance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984248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0391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2222"/>
                </a:solidFill>
                <a:latin typeface="Calibri"/>
              </a:rPr>
              <a:t>Assessments &amp; assignments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551176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606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2222"/>
                </a:solidFill>
                <a:latin typeface="Calibri"/>
              </a:rPr>
              <a:t>Results &amp; report cards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2551176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606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2222"/>
                </a:solidFill>
                <a:latin typeface="Calibri"/>
              </a:rPr>
              <a:t>Fees &amp; payments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551176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2606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2222"/>
                </a:solidFill>
                <a:latin typeface="Calibri"/>
              </a:rPr>
              <a:t>Online payment (Paystack)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118104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1729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2222"/>
                </a:solidFill>
                <a:latin typeface="Calibri"/>
              </a:rPr>
              <a:t>Promotion &amp; graduation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3118104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1729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2222"/>
                </a:solidFill>
                <a:latin typeface="Calibri"/>
              </a:rPr>
              <a:t>Learning materials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118104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1729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2222"/>
                </a:solidFill>
                <a:latin typeface="Calibri"/>
              </a:rPr>
              <a:t>CBT / online exams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685032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37398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2222"/>
                </a:solidFill>
                <a:latin typeface="Calibri"/>
              </a:rPr>
              <a:t>Question bank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34840" y="3685032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37398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2222"/>
                </a:solidFill>
                <a:latin typeface="Calibri"/>
              </a:rPr>
              <a:t>Parent portal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685032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37398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2222"/>
                </a:solidFill>
                <a:latin typeface="Calibri"/>
              </a:rPr>
              <a:t>Student portal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251960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30682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2222"/>
                </a:solidFill>
                <a:latin typeface="Calibri"/>
              </a:rPr>
              <a:t>Communication &amp; announcements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34840" y="4251960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430682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2222"/>
                </a:solidFill>
                <a:latin typeface="Calibri"/>
              </a:rPr>
              <a:t>Reports &amp; analytics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4251960"/>
            <a:ext cx="1097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430682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2222"/>
                </a:solidFill>
                <a:latin typeface="Calibri"/>
              </a:rPr>
              <a:t>Audit log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School Management Platform — Sales Deck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SPOTLIGHT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Results &amp; Report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Scores entered once, used everywhere</a:t>
            </a:r>
            <a:r>
              <a:rPr sz="1700">
                <a:solidFill>
                  <a:srgbClr val="222222"/>
                </a:solidFill>
                <a:latin typeface="Calibri"/>
              </a:rPr>
              <a:t>  no re-typing between the score sheet and the final report card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A deliberate checkpoint before anything reaches a parent</a:t>
            </a:r>
            <a:r>
              <a:rPr sz="1700">
                <a:solidFill>
                  <a:srgbClr val="222222"/>
                </a:solidFill>
                <a:latin typeface="Calibri"/>
              </a:rPr>
              <a:t>  Compile → Mark reviewed → Approve → Publish → Lock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Branded, printable report cards</a:t>
            </a:r>
            <a:r>
              <a:rPr sz="1700">
                <a:solidFill>
                  <a:srgbClr val="222222"/>
                </a:solidFill>
                <a:latin typeface="Calibri"/>
              </a:rPr>
              <a:t>  your school's own logo and grading scale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A locked term is a permanent record</a:t>
            </a:r>
            <a:r>
              <a:rPr sz="1700">
                <a:solidFill>
                  <a:srgbClr val="222222"/>
                </a:solidFill>
                <a:latin typeface="Calibri"/>
              </a:rPr>
              <a:t>  any later correction is a tracked adjustment, never a silent 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School Management Platform — Sales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SPOTLIGHT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Fees &amp; Online Payment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A complete, always-accurate ledger per student</a:t>
            </a:r>
            <a:r>
              <a:rPr sz="1700">
                <a:solidFill>
                  <a:srgbClr val="222222"/>
                </a:solidFill>
                <a:latin typeface="Calibri"/>
              </a:rPr>
              <a:t>  every charge, discount, and payment recorded permanently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Corrections are voids, never deletions</a:t>
            </a:r>
            <a:r>
              <a:rPr sz="1700">
                <a:solidFill>
                  <a:srgbClr val="222222"/>
                </a:solidFill>
                <a:latin typeface="Calibri"/>
              </a:rPr>
              <a:t>  a dispute is settled by the record, not by memory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Parents can pay online through Paystack</a:t>
            </a:r>
            <a:r>
              <a:rPr sz="1700">
                <a:solidFill>
                  <a:srgbClr val="222222"/>
                </a:solidFill>
                <a:latin typeface="Calibri"/>
              </a:rPr>
              <a:t>  card details never touch our servers — Paystack's own secure checkout handles that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Payments verified server-side before being marked paid</a:t>
            </a:r>
            <a:r>
              <a:rPr sz="1700">
                <a:solidFill>
                  <a:srgbClr val="222222"/>
                </a:solidFill>
                <a:latin typeface="Calibri"/>
              </a:rPr>
              <a:t>  a parent cannot pay more than what's actually owed by manipulating the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School Management Platform — Sales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SPOTLIGHT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Parent &amp; Student Portals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Self-service for the routine questions</a:t>
            </a:r>
            <a:r>
              <a:rPr sz="1700">
                <a:solidFill>
                  <a:srgbClr val="222222"/>
                </a:solidFill>
                <a:latin typeface="Calibri"/>
              </a:rPr>
              <a:t>  results, attendance, fees, assignments — without a phone call to the office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Strictly scoped to their own data</a:t>
            </a:r>
            <a:r>
              <a:rPr sz="1700">
                <a:solidFill>
                  <a:srgbClr val="222222"/>
                </a:solidFill>
                <a:latin typeface="Calibri"/>
              </a:rPr>
              <a:t>  a parent sees only their own linked children; a student sees only their own record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The exact same underlying data staff already entered</a:t>
            </a:r>
            <a:r>
              <a:rPr sz="1700">
                <a:solidFill>
                  <a:srgbClr val="222222"/>
                </a:solidFill>
                <a:latin typeface="Calibri"/>
              </a:rPr>
              <a:t>  nothing is a separate copy that can drift out of 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School Management Platform — Sales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SPOTLIGHT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CBT — Online Examinations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Timed, auto-marked, and auto-submitted</a:t>
            </a:r>
            <a:r>
              <a:rPr sz="1700">
                <a:solidFill>
                  <a:srgbClr val="222222"/>
                </a:solidFill>
                <a:latin typeface="Calibri"/>
              </a:rPr>
              <a:t>  the server enforces the time limit, not the student's device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Answers save the instant they're selected</a:t>
            </a:r>
            <a:r>
              <a:rPr sz="1700">
                <a:solidFill>
                  <a:srgbClr val="222222"/>
                </a:solidFill>
                <a:latin typeface="Calibri"/>
              </a:rPr>
              <a:t>  no lost work from a crashed browser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A reusable question bank</a:t>
            </a:r>
            <a:r>
              <a:rPr sz="1700">
                <a:solidFill>
                  <a:srgbClr val="222222"/>
                </a:solidFill>
                <a:latin typeface="Calibri"/>
              </a:rPr>
              <a:t>  write once, reuse every term, without ever changing a test a student already sat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b="1" sz="1700">
                <a:solidFill>
                  <a:srgbClr val="0B3D66"/>
                </a:solidFill>
                <a:latin typeface="Calibri"/>
              </a:rPr>
              <a:t>•  Flexible result release</a:t>
            </a:r>
            <a:r>
              <a:rPr sz="1700">
                <a:solidFill>
                  <a:srgbClr val="222222"/>
                </a:solidFill>
                <a:latin typeface="Calibri"/>
              </a:rPr>
              <a:t>  instant, or on a date you choose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School Management Platform — Sales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a Pilot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00">
                <a:solidFill>
                  <a:srgbClr val="0B3D66"/>
                </a:solidFill>
                <a:latin typeface="Calibri"/>
              </a:rPr>
              <a:t>•  Day 1 – 2: Foundation &amp; people</a:t>
            </a:r>
            <a:r>
              <a:rPr sz="1600">
                <a:solidFill>
                  <a:srgbClr val="222222"/>
                </a:solidFill>
                <a:latin typeface="Calibri"/>
              </a:rPr>
              <a:t>  school profile, academic structure, students, teachers, guardians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00">
                <a:solidFill>
                  <a:srgbClr val="0B3D66"/>
                </a:solidFill>
                <a:latin typeface="Calibri"/>
              </a:rPr>
              <a:t>•  Day 3: Classroom operations</a:t>
            </a:r>
            <a:r>
              <a:rPr sz="1600">
                <a:solidFill>
                  <a:srgbClr val="222222"/>
                </a:solidFill>
                <a:latin typeface="Calibri"/>
              </a:rPr>
              <a:t>  timetable, attendance, and one real assessment, start to finish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00">
                <a:solidFill>
                  <a:srgbClr val="0B3D66"/>
                </a:solidFill>
                <a:latin typeface="Calibri"/>
              </a:rPr>
              <a:t>•  Day 4: Money &amp; communication</a:t>
            </a:r>
            <a:r>
              <a:rPr sz="1600">
                <a:solidFill>
                  <a:srgbClr val="222222"/>
                </a:solidFill>
                <a:latin typeface="Calibri"/>
              </a:rPr>
              <a:t>  fee structures, a recorded payment, an announcement sent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00">
                <a:solidFill>
                  <a:srgbClr val="0B3D66"/>
                </a:solidFill>
                <a:latin typeface="Calibri"/>
              </a:rPr>
              <a:t>•  Day 5: Results &amp; reporting</a:t>
            </a:r>
            <a:r>
              <a:rPr sz="1600">
                <a:solidFill>
                  <a:srgbClr val="222222"/>
                </a:solidFill>
                <a:latin typeface="Calibri"/>
              </a:rPr>
              <a:t>  a compiled, published, locked report card — and a first look at Reports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600">
                <a:solidFill>
                  <a:srgbClr val="0B3D66"/>
                </a:solidFill>
                <a:latin typeface="Calibri"/>
              </a:rPr>
              <a:t>•  After week one: training handover</a:t>
            </a:r>
            <a:r>
              <a:rPr sz="1600">
                <a:solidFill>
                  <a:srgbClr val="222222"/>
                </a:solidFill>
                <a:latin typeface="Calibri"/>
              </a:rPr>
              <a:t>  a signed-off checklist confirming every role was trained and 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School Management Platform — Sales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Let's talk about your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FDDE8"/>
                </a:solidFill>
                <a:latin typeface="Calibri"/>
              </a:rPr>
              <a:t>Questions? Ready to plan a pilot?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FB5CC"/>
                </a:solidFill>
                <a:latin typeface="Calibri"/>
              </a:rPr>
              <a:t>Contact: _______________   |   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